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p:scale>
          <a:sx n="100" d="100"/>
          <a:sy n="100" d="100"/>
        </p:scale>
        <p:origin x="0" y="-51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6DD582BE-6AA8-4452-8FAB-60DEDE72D4DA}" type="datetimeFigureOut">
              <a:rPr lang="en-IN" smtClean="0"/>
              <a:t>19-01-2023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1788201-A6A3-432D-A55E-06968C72EC15}" type="slidenum">
              <a:rPr lang="en-IN" smtClean="0"/>
              <a:t>‹#›</a:t>
            </a:fld>
            <a:endParaRPr lang="en-IN"/>
          </a:p>
        </p:txBody>
      </p:sp>
    </p:spTree>
    <p:extLst>
      <p:ext uri="{BB962C8B-B14F-4D97-AF65-F5344CB8AC3E}">
        <p14:creationId xmlns:p14="http://schemas.microsoft.com/office/powerpoint/2010/main" val="29529508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6DD582BE-6AA8-4452-8FAB-60DEDE72D4DA}" type="datetimeFigureOut">
              <a:rPr lang="en-IN" smtClean="0"/>
              <a:t>19-01-2023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1788201-A6A3-432D-A55E-06968C72EC15}" type="slidenum">
              <a:rPr lang="en-IN" smtClean="0"/>
              <a:t>‹#›</a:t>
            </a:fld>
            <a:endParaRPr lang="en-IN"/>
          </a:p>
        </p:txBody>
      </p:sp>
    </p:spTree>
    <p:extLst>
      <p:ext uri="{BB962C8B-B14F-4D97-AF65-F5344CB8AC3E}">
        <p14:creationId xmlns:p14="http://schemas.microsoft.com/office/powerpoint/2010/main" val="27070152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6DD582BE-6AA8-4452-8FAB-60DEDE72D4DA}" type="datetimeFigureOut">
              <a:rPr lang="en-IN" smtClean="0"/>
              <a:t>19-01-2023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1788201-A6A3-432D-A55E-06968C72EC15}" type="slidenum">
              <a:rPr lang="en-IN" smtClean="0"/>
              <a:t>‹#›</a:t>
            </a:fld>
            <a:endParaRPr lang="en-IN"/>
          </a:p>
        </p:txBody>
      </p:sp>
    </p:spTree>
    <p:extLst>
      <p:ext uri="{BB962C8B-B14F-4D97-AF65-F5344CB8AC3E}">
        <p14:creationId xmlns:p14="http://schemas.microsoft.com/office/powerpoint/2010/main" val="31833367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6DD582BE-6AA8-4452-8FAB-60DEDE72D4DA}" type="datetimeFigureOut">
              <a:rPr lang="en-IN" smtClean="0"/>
              <a:t>19-01-2023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1788201-A6A3-432D-A55E-06968C72EC15}" type="slidenum">
              <a:rPr lang="en-IN" smtClean="0"/>
              <a:t>‹#›</a:t>
            </a:fld>
            <a:endParaRPr lang="en-IN"/>
          </a:p>
        </p:txBody>
      </p:sp>
    </p:spTree>
    <p:extLst>
      <p:ext uri="{BB962C8B-B14F-4D97-AF65-F5344CB8AC3E}">
        <p14:creationId xmlns:p14="http://schemas.microsoft.com/office/powerpoint/2010/main" val="18305829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6DD582BE-6AA8-4452-8FAB-60DEDE72D4DA}" type="datetimeFigureOut">
              <a:rPr lang="en-IN" smtClean="0"/>
              <a:t>19-01-2023</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41788201-A6A3-432D-A55E-06968C72EC15}" type="slidenum">
              <a:rPr lang="en-IN" smtClean="0"/>
              <a:t>‹#›</a:t>
            </a:fld>
            <a:endParaRPr lang="en-IN"/>
          </a:p>
        </p:txBody>
      </p:sp>
    </p:spTree>
    <p:extLst>
      <p:ext uri="{BB962C8B-B14F-4D97-AF65-F5344CB8AC3E}">
        <p14:creationId xmlns:p14="http://schemas.microsoft.com/office/powerpoint/2010/main" val="21009568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6DD582BE-6AA8-4452-8FAB-60DEDE72D4DA}" type="datetimeFigureOut">
              <a:rPr lang="en-IN" smtClean="0"/>
              <a:t>19-01-2023</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41788201-A6A3-432D-A55E-06968C72EC15}" type="slidenum">
              <a:rPr lang="en-IN" smtClean="0"/>
              <a:t>‹#›</a:t>
            </a:fld>
            <a:endParaRPr lang="en-IN"/>
          </a:p>
        </p:txBody>
      </p:sp>
    </p:spTree>
    <p:extLst>
      <p:ext uri="{BB962C8B-B14F-4D97-AF65-F5344CB8AC3E}">
        <p14:creationId xmlns:p14="http://schemas.microsoft.com/office/powerpoint/2010/main" val="3491035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DD582BE-6AA8-4452-8FAB-60DEDE72D4DA}" type="datetimeFigureOut">
              <a:rPr lang="en-IN" smtClean="0"/>
              <a:t>19-01-2023</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41788201-A6A3-432D-A55E-06968C72EC15}" type="slidenum">
              <a:rPr lang="en-IN" smtClean="0"/>
              <a:t>‹#›</a:t>
            </a:fld>
            <a:endParaRPr lang="en-IN"/>
          </a:p>
        </p:txBody>
      </p:sp>
    </p:spTree>
    <p:extLst>
      <p:ext uri="{BB962C8B-B14F-4D97-AF65-F5344CB8AC3E}">
        <p14:creationId xmlns:p14="http://schemas.microsoft.com/office/powerpoint/2010/main" val="18462604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DD582BE-6AA8-4452-8FAB-60DEDE72D4DA}" type="datetimeFigureOut">
              <a:rPr lang="en-IN" smtClean="0"/>
              <a:t>19-01-2023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1788201-A6A3-432D-A55E-06968C72EC15}" type="slidenum">
              <a:rPr lang="en-IN" smtClean="0"/>
              <a:t>‹#›</a:t>
            </a:fld>
            <a:endParaRPr lang="en-IN"/>
          </a:p>
        </p:txBody>
      </p:sp>
    </p:spTree>
    <p:extLst>
      <p:ext uri="{BB962C8B-B14F-4D97-AF65-F5344CB8AC3E}">
        <p14:creationId xmlns:p14="http://schemas.microsoft.com/office/powerpoint/2010/main" val="9736063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DD582BE-6AA8-4452-8FAB-60DEDE72D4DA}" type="datetimeFigureOut">
              <a:rPr lang="en-IN" smtClean="0"/>
              <a:t>19-01-2023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1788201-A6A3-432D-A55E-06968C72EC15}" type="slidenum">
              <a:rPr lang="en-IN" smtClean="0"/>
              <a:t>‹#›</a:t>
            </a:fld>
            <a:endParaRPr lang="en-IN"/>
          </a:p>
        </p:txBody>
      </p:sp>
    </p:spTree>
    <p:extLst>
      <p:ext uri="{BB962C8B-B14F-4D97-AF65-F5344CB8AC3E}">
        <p14:creationId xmlns:p14="http://schemas.microsoft.com/office/powerpoint/2010/main" val="29728817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6DD582BE-6AA8-4452-8FAB-60DEDE72D4DA}" type="datetimeFigureOut">
              <a:rPr lang="en-IN" smtClean="0"/>
              <a:t>19-01-2023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1788201-A6A3-432D-A55E-06968C72EC15}" type="slidenum">
              <a:rPr lang="en-IN" smtClean="0"/>
              <a:t>‹#›</a:t>
            </a:fld>
            <a:endParaRPr lang="en-IN"/>
          </a:p>
        </p:txBody>
      </p:sp>
    </p:spTree>
    <p:extLst>
      <p:ext uri="{BB962C8B-B14F-4D97-AF65-F5344CB8AC3E}">
        <p14:creationId xmlns:p14="http://schemas.microsoft.com/office/powerpoint/2010/main" val="39369140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6DD582BE-6AA8-4452-8FAB-60DEDE72D4DA}" type="datetimeFigureOut">
              <a:rPr lang="en-IN" smtClean="0"/>
              <a:t>19-01-2023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1788201-A6A3-432D-A55E-06968C72EC15}" type="slidenum">
              <a:rPr lang="en-IN" smtClean="0"/>
              <a:t>‹#›</a:t>
            </a:fld>
            <a:endParaRPr lang="en-IN"/>
          </a:p>
        </p:txBody>
      </p:sp>
    </p:spTree>
    <p:extLst>
      <p:ext uri="{BB962C8B-B14F-4D97-AF65-F5344CB8AC3E}">
        <p14:creationId xmlns:p14="http://schemas.microsoft.com/office/powerpoint/2010/main" val="39490138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DD582BE-6AA8-4452-8FAB-60DEDE72D4DA}" type="datetimeFigureOut">
              <a:rPr lang="en-IN" smtClean="0"/>
              <a:t>19-01-2023</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1788201-A6A3-432D-A55E-06968C72EC15}" type="slidenum">
              <a:rPr lang="en-IN" smtClean="0"/>
              <a:t>‹#›</a:t>
            </a:fld>
            <a:endParaRPr lang="en-IN"/>
          </a:p>
        </p:txBody>
      </p:sp>
    </p:spTree>
    <p:extLst>
      <p:ext uri="{BB962C8B-B14F-4D97-AF65-F5344CB8AC3E}">
        <p14:creationId xmlns:p14="http://schemas.microsoft.com/office/powerpoint/2010/main" val="313549703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1"/>
            <a:ext cx="12192000" cy="6858001"/>
          </a:xfrm>
        </p:spPr>
        <p:txBody>
          <a:bodyPr>
            <a:normAutofit/>
          </a:bodyPr>
          <a:lstStyle/>
          <a:p>
            <a:r>
              <a:rPr lang="en-IN" sz="3200" i="1" u="sng" dirty="0" smtClean="0">
                <a:latin typeface="Times New Roman" panose="02020603050405020304" pitchFamily="18" charset="0"/>
                <a:cs typeface="Times New Roman" panose="02020603050405020304" pitchFamily="18" charset="0"/>
              </a:rPr>
              <a:t>Health Insurance </a:t>
            </a:r>
            <a:r>
              <a:rPr lang="en-IN" sz="3200" i="1" u="sng" dirty="0" smtClean="0">
                <a:latin typeface="Times New Roman" panose="02020603050405020304" pitchFamily="18" charset="0"/>
                <a:cs typeface="Times New Roman" panose="02020603050405020304" pitchFamily="18" charset="0"/>
              </a:rPr>
              <a:t>Analysis and Prediction price using ML model </a:t>
            </a:r>
          </a:p>
          <a:p>
            <a:endParaRPr lang="en-IN" sz="3200" i="1" u="sng" dirty="0" smtClean="0">
              <a:latin typeface="Times New Roman" panose="02020603050405020304" pitchFamily="18" charset="0"/>
              <a:cs typeface="Times New Roman" panose="02020603050405020304" pitchFamily="18" charset="0"/>
            </a:endParaRPr>
          </a:p>
        </p:txBody>
      </p:sp>
      <p:sp>
        <p:nvSpPr>
          <p:cNvPr id="4" name="TextBox 3"/>
          <p:cNvSpPr txBox="1"/>
          <p:nvPr/>
        </p:nvSpPr>
        <p:spPr>
          <a:xfrm>
            <a:off x="517582" y="1806549"/>
            <a:ext cx="11157626" cy="1015663"/>
          </a:xfrm>
          <a:prstGeom prst="rect">
            <a:avLst/>
          </a:prstGeom>
          <a:noFill/>
        </p:spPr>
        <p:txBody>
          <a:bodyPr wrap="square" rtlCol="0">
            <a:spAutoFit/>
          </a:bodyPr>
          <a:lstStyle/>
          <a:p>
            <a:r>
              <a:rPr lang="en-US" sz="2000" dirty="0" smtClean="0">
                <a:latin typeface="Times New Roman" panose="02020603050405020304" pitchFamily="18" charset="0"/>
                <a:cs typeface="Times New Roman" panose="02020603050405020304" pitchFamily="18" charset="0"/>
              </a:rPr>
              <a:t>Abstract:- This Project is for the doing the basic exploration and analysis for the </a:t>
            </a:r>
            <a:r>
              <a:rPr lang="en-US" sz="2000" dirty="0" smtClean="0">
                <a:latin typeface="Times New Roman" panose="02020603050405020304" pitchFamily="18" charset="0"/>
                <a:cs typeface="Times New Roman" panose="02020603050405020304" pitchFamily="18" charset="0"/>
              </a:rPr>
              <a:t>health insurance</a:t>
            </a:r>
            <a:r>
              <a:rPr lang="en-US" sz="2000" dirty="0" smtClean="0">
                <a:latin typeface="Times New Roman" panose="02020603050405020304" pitchFamily="18" charset="0"/>
                <a:cs typeface="Times New Roman" panose="02020603050405020304" pitchFamily="18" charset="0"/>
              </a:rPr>
              <a:t> </a:t>
            </a:r>
            <a:r>
              <a:rPr lang="en-US" sz="2000" dirty="0" smtClean="0">
                <a:latin typeface="Times New Roman" panose="02020603050405020304" pitchFamily="18" charset="0"/>
                <a:cs typeface="Times New Roman" panose="02020603050405020304" pitchFamily="18" charset="0"/>
              </a:rPr>
              <a:t>data set and predict the </a:t>
            </a:r>
            <a:r>
              <a:rPr lang="en-US" sz="2000" dirty="0" smtClean="0">
                <a:latin typeface="Times New Roman" panose="02020603050405020304" pitchFamily="18" charset="0"/>
                <a:cs typeface="Times New Roman" panose="02020603050405020304" pitchFamily="18" charset="0"/>
              </a:rPr>
              <a:t>price of insurance amount using </a:t>
            </a:r>
            <a:r>
              <a:rPr lang="en-US" sz="2000" dirty="0" smtClean="0">
                <a:latin typeface="Times New Roman" panose="02020603050405020304" pitchFamily="18" charset="0"/>
                <a:cs typeface="Times New Roman" panose="02020603050405020304" pitchFamily="18" charset="0"/>
              </a:rPr>
              <a:t>various ML model and finding the best model for the </a:t>
            </a:r>
            <a:r>
              <a:rPr lang="en-US" sz="2000" dirty="0" smtClean="0">
                <a:latin typeface="Times New Roman" panose="02020603050405020304" pitchFamily="18" charset="0"/>
                <a:cs typeface="Times New Roman" panose="02020603050405020304" pitchFamily="18" charset="0"/>
              </a:rPr>
              <a:t>prediction of pric</a:t>
            </a:r>
            <a:r>
              <a:rPr lang="en-US" sz="2000" dirty="0">
                <a:latin typeface="Times New Roman" panose="02020603050405020304" pitchFamily="18" charset="0"/>
                <a:cs typeface="Times New Roman" panose="02020603050405020304" pitchFamily="18" charset="0"/>
              </a:rPr>
              <a:t>e</a:t>
            </a:r>
            <a:r>
              <a:rPr lang="en-US" sz="2000" dirty="0" smtClean="0">
                <a:latin typeface="Times New Roman" panose="02020603050405020304" pitchFamily="18" charset="0"/>
                <a:cs typeface="Times New Roman" panose="02020603050405020304" pitchFamily="18" charset="0"/>
              </a:rPr>
              <a:t>.</a:t>
            </a:r>
            <a:endParaRPr lang="en-IN" sz="2000" dirty="0">
              <a:latin typeface="Times New Roman" panose="02020603050405020304" pitchFamily="18" charset="0"/>
              <a:cs typeface="Times New Roman" panose="02020603050405020304" pitchFamily="18" charset="0"/>
            </a:endParaRPr>
          </a:p>
        </p:txBody>
      </p:sp>
      <p:sp>
        <p:nvSpPr>
          <p:cNvPr id="5" name="TextBox 4"/>
          <p:cNvSpPr txBox="1"/>
          <p:nvPr/>
        </p:nvSpPr>
        <p:spPr>
          <a:xfrm>
            <a:off x="8546698" y="5283224"/>
            <a:ext cx="4182893" cy="1384995"/>
          </a:xfrm>
          <a:prstGeom prst="rect">
            <a:avLst/>
          </a:prstGeom>
          <a:noFill/>
        </p:spPr>
        <p:txBody>
          <a:bodyPr wrap="square" rtlCol="0">
            <a:spAutoFit/>
          </a:bodyPr>
          <a:lstStyle/>
          <a:p>
            <a:r>
              <a:rPr lang="en-US" sz="2800" dirty="0" smtClean="0">
                <a:latin typeface="Times New Roman" panose="02020603050405020304" pitchFamily="18" charset="0"/>
                <a:cs typeface="Times New Roman" panose="02020603050405020304" pitchFamily="18" charset="0"/>
              </a:rPr>
              <a:t>From :-Lokesh R</a:t>
            </a:r>
          </a:p>
          <a:p>
            <a:r>
              <a:rPr lang="en-US" sz="2800" dirty="0" smtClean="0">
                <a:latin typeface="Times New Roman" panose="02020603050405020304" pitchFamily="18" charset="0"/>
                <a:cs typeface="Times New Roman" panose="02020603050405020304" pitchFamily="18" charset="0"/>
              </a:rPr>
              <a:t>BE Graduate (AE)</a:t>
            </a:r>
          </a:p>
          <a:p>
            <a:r>
              <a:rPr lang="en-US" sz="2800" dirty="0" smtClean="0">
                <a:latin typeface="Times New Roman" panose="02020603050405020304" pitchFamily="18" charset="0"/>
                <a:cs typeface="Times New Roman" panose="02020603050405020304" pitchFamily="18" charset="0"/>
              </a:rPr>
              <a:t>Aspiring Data scientist </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597261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1"/>
            <a:ext cx="12192000" cy="6858001"/>
          </a:xfrm>
        </p:spPr>
        <p:txBody>
          <a:bodyPr>
            <a:normAutofit/>
          </a:bodyPr>
          <a:lstStyle/>
          <a:p>
            <a:pPr algn="l">
              <a:lnSpc>
                <a:spcPct val="100000"/>
              </a:lnSpc>
            </a:pPr>
            <a:r>
              <a:rPr lang="en-US" sz="2000" dirty="0">
                <a:latin typeface="Times New Roman" panose="02020603050405020304" pitchFamily="18" charset="0"/>
                <a:cs typeface="Times New Roman" panose="02020603050405020304" pitchFamily="18" charset="0"/>
              </a:rPr>
              <a:t>Health insurance is a contract between a company and a consumer. The company agrees to pay all or some of the insured person's healthcare costs in return for payment of a monthly premium</a:t>
            </a:r>
            <a:r>
              <a:rPr lang="en-US" sz="2000" dirty="0" smtClean="0">
                <a:latin typeface="Times New Roman" panose="02020603050405020304" pitchFamily="18" charset="0"/>
                <a:cs typeface="Times New Roman" panose="02020603050405020304" pitchFamily="18" charset="0"/>
              </a:rPr>
              <a:t>.</a:t>
            </a:r>
          </a:p>
          <a:p>
            <a:pPr algn="l">
              <a:lnSpc>
                <a:spcPct val="100000"/>
              </a:lnSpc>
            </a:pPr>
            <a:r>
              <a:rPr lang="en-US" sz="2000" dirty="0">
                <a:latin typeface="Times New Roman" panose="02020603050405020304" pitchFamily="18" charset="0"/>
                <a:cs typeface="Times New Roman" panose="02020603050405020304" pitchFamily="18" charset="0"/>
              </a:rPr>
              <a:t>Health insurance is a necessity nowadays, and almost every individual is linked with a government or private health insurance company. Factors determining the amount of insurance vary from company to company. Also people in rural areas are unaware of the fact that the government of India provide free health insurance to those below poverty line. It is very complex method and some rural people either buy some private health insurance or do not invest money in health insurance at all. Apart from this people can be fooled easily about the amount of the insurance and may unnecessarily buy some expensive health </a:t>
            </a:r>
            <a:r>
              <a:rPr lang="en-US" sz="2000" dirty="0" smtClean="0">
                <a:latin typeface="Times New Roman" panose="02020603050405020304" pitchFamily="18" charset="0"/>
                <a:cs typeface="Times New Roman" panose="02020603050405020304" pitchFamily="18" charset="0"/>
              </a:rPr>
              <a:t>insurance.</a:t>
            </a:r>
          </a:p>
          <a:p>
            <a:pPr algn="l">
              <a:lnSpc>
                <a:spcPct val="100000"/>
              </a:lnSpc>
            </a:pPr>
            <a:r>
              <a:rPr lang="en-US" sz="2000" dirty="0" smtClean="0">
                <a:latin typeface="Times New Roman" panose="02020603050405020304" pitchFamily="18" charset="0"/>
                <a:cs typeface="Times New Roman" panose="02020603050405020304" pitchFamily="18" charset="0"/>
              </a:rPr>
              <a:t>The dataset which was taken for the analysis is from </a:t>
            </a:r>
            <a:r>
              <a:rPr lang="en-US" sz="2000" dirty="0" err="1" smtClean="0">
                <a:latin typeface="Times New Roman" panose="02020603050405020304" pitchFamily="18" charset="0"/>
                <a:cs typeface="Times New Roman" panose="02020603050405020304" pitchFamily="18" charset="0"/>
              </a:rPr>
              <a:t>Kaggle</a:t>
            </a:r>
            <a:r>
              <a:rPr lang="en-US" sz="2000" dirty="0" smtClean="0">
                <a:latin typeface="Times New Roman" panose="02020603050405020304" pitchFamily="18" charset="0"/>
                <a:cs typeface="Times New Roman" panose="02020603050405020304" pitchFamily="18" charset="0"/>
              </a:rPr>
              <a:t>:-                                                                                                        “</a:t>
            </a:r>
            <a:r>
              <a:rPr lang="en-US" sz="2000" dirty="0" err="1" smtClean="0">
                <a:latin typeface="Times New Roman" panose="02020603050405020304" pitchFamily="18" charset="0"/>
                <a:cs typeface="Times New Roman" panose="02020603050405020304" pitchFamily="18" charset="0"/>
              </a:rPr>
              <a:t>kaggle</a:t>
            </a:r>
            <a:r>
              <a:rPr lang="en-US" sz="2000" dirty="0" smtClean="0">
                <a:latin typeface="Times New Roman" panose="02020603050405020304" pitchFamily="18" charset="0"/>
                <a:cs typeface="Times New Roman" panose="02020603050405020304" pitchFamily="18" charset="0"/>
              </a:rPr>
              <a:t> datasets download -d </a:t>
            </a:r>
            <a:r>
              <a:rPr lang="en-US" sz="2000" dirty="0" err="1" smtClean="0">
                <a:latin typeface="Times New Roman" panose="02020603050405020304" pitchFamily="18" charset="0"/>
                <a:cs typeface="Times New Roman" panose="02020603050405020304" pitchFamily="18" charset="0"/>
              </a:rPr>
              <a:t>annetxu</a:t>
            </a:r>
            <a:r>
              <a:rPr lang="en-US" sz="2000" dirty="0" smtClean="0">
                <a:latin typeface="Times New Roman" panose="02020603050405020304" pitchFamily="18" charset="0"/>
                <a:cs typeface="Times New Roman" panose="02020603050405020304" pitchFamily="18" charset="0"/>
              </a:rPr>
              <a:t>/health-insurance-cost-prediction”</a:t>
            </a:r>
          </a:p>
          <a:p>
            <a:pPr algn="l">
              <a:lnSpc>
                <a:spcPct val="100000"/>
              </a:lnSpc>
            </a:pPr>
            <a:r>
              <a:rPr lang="en-US" sz="2000" dirty="0" smtClean="0">
                <a:latin typeface="Times New Roman" panose="02020603050405020304" pitchFamily="18" charset="0"/>
                <a:cs typeface="Times New Roman" panose="02020603050405020304" pitchFamily="18" charset="0"/>
              </a:rPr>
              <a:t>The Data set consist of missing values which was imputed using the suitable techniques.</a:t>
            </a:r>
          </a:p>
          <a:p>
            <a:pPr algn="l">
              <a:lnSpc>
                <a:spcPct val="100000"/>
              </a:lnSpc>
            </a:pPr>
            <a:r>
              <a:rPr lang="en-US" sz="2000" dirty="0" smtClean="0">
                <a:latin typeface="Times New Roman" panose="02020603050405020304" pitchFamily="18" charset="0"/>
                <a:cs typeface="Times New Roman" panose="02020603050405020304" pitchFamily="18" charset="0"/>
              </a:rPr>
              <a:t>The Dataset was an regression model which means the output variable is an continues variable so to predict the value regression model can be used.</a:t>
            </a:r>
          </a:p>
          <a:p>
            <a:pPr algn="l">
              <a:lnSpc>
                <a:spcPct val="100000"/>
              </a:lnSpc>
            </a:pPr>
            <a:endParaRPr lang="en-US" sz="2000" dirty="0" smtClean="0">
              <a:latin typeface="Times New Roman" panose="02020603050405020304" pitchFamily="18" charset="0"/>
              <a:cs typeface="Times New Roman" panose="02020603050405020304" pitchFamily="18" charset="0"/>
            </a:endParaRPr>
          </a:p>
          <a:p>
            <a:pPr algn="l">
              <a:lnSpc>
                <a:spcPct val="100000"/>
              </a:lnSpc>
            </a:pPr>
            <a:r>
              <a:rPr lang="en-US" sz="2000" dirty="0" smtClean="0">
                <a:latin typeface="Times New Roman" panose="02020603050405020304" pitchFamily="18" charset="0"/>
                <a:cs typeface="Times New Roman" panose="02020603050405020304" pitchFamily="18" charset="0"/>
              </a:rPr>
              <a:t>For the exploration of the data was done by using the python libraries like </a:t>
            </a:r>
            <a:r>
              <a:rPr lang="en-IN" sz="2000" dirty="0" err="1" smtClean="0">
                <a:latin typeface="Times New Roman" panose="02020603050405020304" pitchFamily="18" charset="0"/>
                <a:cs typeface="Times New Roman" panose="02020603050405020304" pitchFamily="18" charset="0"/>
              </a:rPr>
              <a:t>Numpy</a:t>
            </a:r>
            <a:r>
              <a:rPr lang="en-IN" sz="2000" dirty="0" smtClean="0">
                <a:latin typeface="Times New Roman" panose="02020603050405020304" pitchFamily="18" charset="0"/>
                <a:cs typeface="Times New Roman" panose="02020603050405020304" pitchFamily="18" charset="0"/>
              </a:rPr>
              <a:t> (For numerical operation),</a:t>
            </a:r>
            <a:r>
              <a:rPr lang="en-US" sz="2000" dirty="0" smtClean="0">
                <a:latin typeface="Times New Roman" panose="02020603050405020304" pitchFamily="18" charset="0"/>
                <a:cs typeface="Times New Roman" panose="02020603050405020304" pitchFamily="18" charset="0"/>
              </a:rPr>
              <a:t>Pandas(For Dealing with the Data Set), </a:t>
            </a:r>
            <a:r>
              <a:rPr lang="en-US" sz="2000" dirty="0" err="1" smtClean="0">
                <a:latin typeface="Times New Roman" panose="02020603050405020304" pitchFamily="18" charset="0"/>
                <a:cs typeface="Times New Roman" panose="02020603050405020304" pitchFamily="18" charset="0"/>
              </a:rPr>
              <a:t>Matplotlib</a:t>
            </a:r>
            <a:r>
              <a:rPr lang="en-US" sz="2000" dirty="0" smtClean="0">
                <a:latin typeface="Times New Roman" panose="02020603050405020304" pitchFamily="18" charset="0"/>
                <a:cs typeface="Times New Roman" panose="02020603050405020304" pitchFamily="18" charset="0"/>
              </a:rPr>
              <a:t>(For plotting graph), </a:t>
            </a:r>
            <a:r>
              <a:rPr lang="en-US" sz="2000" dirty="0" err="1" smtClean="0">
                <a:latin typeface="Times New Roman" panose="02020603050405020304" pitchFamily="18" charset="0"/>
                <a:cs typeface="Times New Roman" panose="02020603050405020304" pitchFamily="18" charset="0"/>
              </a:rPr>
              <a:t>seaborn</a:t>
            </a:r>
            <a:r>
              <a:rPr lang="en-US" sz="2000" dirty="0" smtClean="0">
                <a:latin typeface="Times New Roman" panose="02020603050405020304" pitchFamily="18" charset="0"/>
                <a:cs typeface="Times New Roman" panose="02020603050405020304" pitchFamily="18" charset="0"/>
              </a:rPr>
              <a:t>(Data visualization ), </a:t>
            </a:r>
            <a:r>
              <a:rPr lang="en-US" sz="2000" dirty="0" err="1" smtClean="0">
                <a:latin typeface="Times New Roman" panose="02020603050405020304" pitchFamily="18" charset="0"/>
                <a:cs typeface="Times New Roman" panose="02020603050405020304" pitchFamily="18" charset="0"/>
              </a:rPr>
              <a:t>plotly</a:t>
            </a:r>
            <a:r>
              <a:rPr lang="en-US" sz="2000" dirty="0" smtClean="0">
                <a:latin typeface="Times New Roman" panose="02020603050405020304" pitchFamily="18" charset="0"/>
                <a:cs typeface="Times New Roman" panose="02020603050405020304" pitchFamily="18" charset="0"/>
              </a:rPr>
              <a:t>(For data visualization),and </a:t>
            </a:r>
            <a:r>
              <a:rPr lang="en-US" sz="2000" dirty="0" err="1" smtClean="0">
                <a:latin typeface="Times New Roman" panose="02020603050405020304" pitchFamily="18" charset="0"/>
                <a:cs typeface="Times New Roman" panose="02020603050405020304" pitchFamily="18" charset="0"/>
              </a:rPr>
              <a:t>sklearn</a:t>
            </a:r>
            <a:r>
              <a:rPr lang="en-US" sz="2000" dirty="0" smtClean="0">
                <a:latin typeface="Times New Roman" panose="02020603050405020304" pitchFamily="18" charset="0"/>
                <a:cs typeface="Times New Roman" panose="02020603050405020304" pitchFamily="18" charset="0"/>
              </a:rPr>
              <a:t> (For Feature Engineering and Machine learning ).</a:t>
            </a:r>
          </a:p>
          <a:p>
            <a:pPr algn="l">
              <a:lnSpc>
                <a:spcPct val="100000"/>
              </a:lnSpc>
            </a:pPr>
            <a:endParaRPr lang="en-US" sz="2000" dirty="0" smtClean="0">
              <a:latin typeface="Times New Roman" panose="02020603050405020304" pitchFamily="18" charset="0"/>
              <a:cs typeface="Times New Roman" panose="02020603050405020304" pitchFamily="18" charset="0"/>
            </a:endParaRPr>
          </a:p>
          <a:p>
            <a:pPr algn="l">
              <a:lnSpc>
                <a:spcPct val="100000"/>
              </a:lnSpc>
            </a:pPr>
            <a:endParaRPr lang="en-US" sz="2000" dirty="0" smtClean="0">
              <a:latin typeface="Times New Roman" panose="02020603050405020304" pitchFamily="18" charset="0"/>
              <a:cs typeface="Times New Roman" panose="02020603050405020304" pitchFamily="18" charset="0"/>
            </a:endParaRPr>
          </a:p>
          <a:p>
            <a:pPr algn="l">
              <a:lnSpc>
                <a:spcPct val="100000"/>
              </a:lnSpc>
            </a:pPr>
            <a:endParaRPr lang="en-US" sz="2000" dirty="0" smtClean="0">
              <a:latin typeface="Times New Roman" panose="02020603050405020304" pitchFamily="18" charset="0"/>
              <a:cs typeface="Times New Roman" panose="02020603050405020304" pitchFamily="18" charset="0"/>
            </a:endParaRPr>
          </a:p>
          <a:p>
            <a:pPr algn="just">
              <a:lnSpc>
                <a:spcPct val="100000"/>
              </a:lnSpc>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186150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1"/>
            <a:ext cx="12192000" cy="6858001"/>
          </a:xfrm>
        </p:spPr>
        <p:txBody>
          <a:bodyPr>
            <a:normAutofit/>
          </a:bodyPr>
          <a:lstStyle/>
          <a:p>
            <a:pPr algn="l">
              <a:lnSpc>
                <a:spcPct val="100000"/>
              </a:lnSpc>
            </a:pPr>
            <a:r>
              <a:rPr lang="en-US" sz="2000" dirty="0" smtClean="0">
                <a:latin typeface="Times New Roman" panose="02020603050405020304" pitchFamily="18" charset="0"/>
                <a:cs typeface="Times New Roman" panose="02020603050405020304" pitchFamily="18" charset="0"/>
              </a:rPr>
              <a:t>To find the basic description and info which helps us to find out the values which are enter are which </a:t>
            </a:r>
            <a:r>
              <a:rPr lang="en-US" sz="2000" dirty="0" err="1" smtClean="0">
                <a:latin typeface="Times New Roman" panose="02020603050405020304" pitchFamily="18" charset="0"/>
                <a:cs typeface="Times New Roman" panose="02020603050405020304" pitchFamily="18" charset="0"/>
              </a:rPr>
              <a:t>dtype</a:t>
            </a:r>
            <a:r>
              <a:rPr lang="en-US" sz="2000" dirty="0" smtClean="0">
                <a:latin typeface="Times New Roman" panose="02020603050405020304" pitchFamily="18" charset="0"/>
                <a:cs typeface="Times New Roman" panose="02020603050405020304" pitchFamily="18" charset="0"/>
              </a:rPr>
              <a:t> and null values are enter in the any other form like .,0,etc.</a:t>
            </a:r>
          </a:p>
          <a:p>
            <a:pPr algn="l">
              <a:lnSpc>
                <a:spcPct val="100000"/>
              </a:lnSpc>
            </a:pPr>
            <a:endParaRPr lang="en-US" sz="2000" dirty="0">
              <a:latin typeface="Times New Roman" panose="02020603050405020304" pitchFamily="18" charset="0"/>
              <a:cs typeface="Times New Roman" panose="02020603050405020304" pitchFamily="18" charset="0"/>
            </a:endParaRPr>
          </a:p>
          <a:p>
            <a:pPr algn="l">
              <a:lnSpc>
                <a:spcPct val="100000"/>
              </a:lnSpc>
            </a:pPr>
            <a:endParaRPr lang="en-US" sz="2000" dirty="0" smtClean="0">
              <a:latin typeface="Times New Roman" panose="02020603050405020304" pitchFamily="18" charset="0"/>
              <a:cs typeface="Times New Roman" panose="02020603050405020304" pitchFamily="18" charset="0"/>
            </a:endParaRPr>
          </a:p>
          <a:p>
            <a:pPr algn="l">
              <a:lnSpc>
                <a:spcPct val="100000"/>
              </a:lnSpc>
            </a:pPr>
            <a:endParaRPr lang="en-US" sz="2000" dirty="0">
              <a:latin typeface="Times New Roman" panose="02020603050405020304" pitchFamily="18" charset="0"/>
              <a:cs typeface="Times New Roman" panose="02020603050405020304" pitchFamily="18" charset="0"/>
            </a:endParaRPr>
          </a:p>
          <a:p>
            <a:pPr algn="l">
              <a:lnSpc>
                <a:spcPct val="100000"/>
              </a:lnSpc>
            </a:pPr>
            <a:endParaRPr lang="en-US" sz="2000" dirty="0" smtClean="0">
              <a:latin typeface="Times New Roman" panose="02020603050405020304" pitchFamily="18" charset="0"/>
              <a:cs typeface="Times New Roman" panose="02020603050405020304" pitchFamily="18" charset="0"/>
            </a:endParaRPr>
          </a:p>
          <a:p>
            <a:pPr algn="l">
              <a:lnSpc>
                <a:spcPct val="100000"/>
              </a:lnSpc>
            </a:pPr>
            <a:endParaRPr lang="en-US" sz="2000" dirty="0">
              <a:latin typeface="Times New Roman" panose="02020603050405020304" pitchFamily="18" charset="0"/>
              <a:cs typeface="Times New Roman" panose="02020603050405020304" pitchFamily="18" charset="0"/>
            </a:endParaRPr>
          </a:p>
          <a:p>
            <a:pPr algn="l">
              <a:lnSpc>
                <a:spcPct val="100000"/>
              </a:lnSpc>
            </a:pPr>
            <a:endParaRPr lang="en-US" sz="2000" dirty="0" smtClean="0">
              <a:latin typeface="Times New Roman" panose="02020603050405020304" pitchFamily="18" charset="0"/>
              <a:cs typeface="Times New Roman" panose="02020603050405020304" pitchFamily="18" charset="0"/>
            </a:endParaRPr>
          </a:p>
          <a:p>
            <a:pPr algn="l">
              <a:lnSpc>
                <a:spcPct val="100000"/>
              </a:lnSpc>
            </a:pPr>
            <a:endParaRPr lang="en-US" sz="2000" dirty="0">
              <a:latin typeface="Times New Roman" panose="02020603050405020304" pitchFamily="18" charset="0"/>
              <a:cs typeface="Times New Roman" panose="02020603050405020304" pitchFamily="18" charset="0"/>
            </a:endParaRPr>
          </a:p>
          <a:p>
            <a:pPr algn="l">
              <a:lnSpc>
                <a:spcPct val="100000"/>
              </a:lnSpc>
            </a:pPr>
            <a:r>
              <a:rPr lang="en-US" sz="2000" dirty="0" smtClean="0">
                <a:latin typeface="Times New Roman" panose="02020603050405020304" pitchFamily="18" charset="0"/>
                <a:cs typeface="Times New Roman" panose="02020603050405020304" pitchFamily="18" charset="0"/>
              </a:rPr>
              <a:t>From the above image we can see that there are some nul</a:t>
            </a:r>
            <a:r>
              <a:rPr lang="en-US" sz="2000" dirty="0" smtClean="0">
                <a:latin typeface="Times New Roman" panose="02020603050405020304" pitchFamily="18" charset="0"/>
                <a:cs typeface="Times New Roman" panose="02020603050405020304" pitchFamily="18" charset="0"/>
              </a:rPr>
              <a:t>l values present in the dataset and there are no enters other that null . </a:t>
            </a:r>
            <a:endParaRPr lang="en-US" sz="2000" dirty="0" smtClean="0">
              <a:latin typeface="Times New Roman" panose="02020603050405020304" pitchFamily="18" charset="0"/>
              <a:cs typeface="Times New Roman" panose="02020603050405020304" pitchFamily="18" charset="0"/>
            </a:endParaRPr>
          </a:p>
          <a:p>
            <a:pPr algn="l">
              <a:lnSpc>
                <a:spcPct val="100000"/>
              </a:lnSpc>
            </a:pPr>
            <a:endParaRPr lang="en-US" sz="2000" dirty="0">
              <a:latin typeface="Times New Roman" panose="02020603050405020304" pitchFamily="18" charset="0"/>
              <a:cs typeface="Times New Roman" panose="02020603050405020304" pitchFamily="18" charset="0"/>
            </a:endParaRPr>
          </a:p>
          <a:p>
            <a:pPr algn="l">
              <a:lnSpc>
                <a:spcPct val="100000"/>
              </a:lnSpc>
            </a:pPr>
            <a:r>
              <a:rPr lang="en-US" sz="2000" dirty="0" smtClean="0">
                <a:latin typeface="Times New Roman" panose="02020603050405020304" pitchFamily="18" charset="0"/>
                <a:cs typeface="Times New Roman" panose="02020603050405020304" pitchFamily="18" charset="0"/>
              </a:rPr>
              <a:t> next  to deal with missing values and find out missing values and any wrong entry pandas library was use and to impute the missing value fancy imputer was use because data set imputed by this method was showing good accuracy compare to other method.</a:t>
            </a:r>
          </a:p>
          <a:p>
            <a:pPr algn="l">
              <a:lnSpc>
                <a:spcPct val="100000"/>
              </a:lnSpc>
            </a:pPr>
            <a:endParaRPr lang="en-US" sz="2000" dirty="0">
              <a:latin typeface="Times New Roman" panose="02020603050405020304" pitchFamily="18" charset="0"/>
              <a:cs typeface="Times New Roman" panose="02020603050405020304" pitchFamily="18" charset="0"/>
            </a:endParaRPr>
          </a:p>
          <a:p>
            <a:pPr algn="l">
              <a:lnSpc>
                <a:spcPct val="100000"/>
              </a:lnSpc>
            </a:pPr>
            <a:endParaRPr lang="en-US" sz="2000" dirty="0" smtClean="0">
              <a:latin typeface="Times New Roman" panose="02020603050405020304" pitchFamily="18" charset="0"/>
              <a:cs typeface="Times New Roman" panose="02020603050405020304" pitchFamily="18" charset="0"/>
            </a:endParaRPr>
          </a:p>
          <a:p>
            <a:pPr algn="l">
              <a:lnSpc>
                <a:spcPct val="100000"/>
              </a:lnSpc>
            </a:pPr>
            <a:endParaRPr lang="en-IN" sz="2000" dirty="0">
              <a:latin typeface="Times New Roman" panose="02020603050405020304" pitchFamily="18" charset="0"/>
              <a:cs typeface="Times New Roman" panose="02020603050405020304" pitchFamily="18" charset="0"/>
            </a:endParaRP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7447" y="811099"/>
            <a:ext cx="4998720" cy="2354580"/>
          </a:xfrm>
          <a:prstGeom prst="rect">
            <a:avLst/>
          </a:prstGeom>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73614" y="811099"/>
            <a:ext cx="5402580" cy="2796540"/>
          </a:xfrm>
          <a:prstGeom prst="rect">
            <a:avLst/>
          </a:prstGeom>
        </p:spPr>
      </p:pic>
    </p:spTree>
    <p:extLst>
      <p:ext uri="{BB962C8B-B14F-4D97-AF65-F5344CB8AC3E}">
        <p14:creationId xmlns:p14="http://schemas.microsoft.com/office/powerpoint/2010/main" val="39950772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1"/>
            <a:ext cx="12192000" cy="6858001"/>
          </a:xfrm>
        </p:spPr>
        <p:txBody>
          <a:bodyPr/>
          <a:lstStyle/>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pPr algn="l"/>
            <a:endParaRPr lang="en-US" sz="2000" dirty="0" smtClean="0">
              <a:latin typeface="Times New Roman" panose="02020603050405020304" pitchFamily="18" charset="0"/>
              <a:cs typeface="Times New Roman" panose="02020603050405020304" pitchFamily="18" charset="0"/>
            </a:endParaRPr>
          </a:p>
          <a:p>
            <a:pPr algn="l"/>
            <a:r>
              <a:rPr lang="en-US" sz="2000" dirty="0" smtClean="0">
                <a:latin typeface="Times New Roman" panose="02020603050405020304" pitchFamily="18" charset="0"/>
                <a:cs typeface="Times New Roman" panose="02020603050405020304" pitchFamily="18" charset="0"/>
              </a:rPr>
              <a:t>From the plot we can see that the missing values are imputed are random and because of which the accuracy of the model will be imputed when compared to the other kind of imputing methods.</a:t>
            </a:r>
          </a:p>
          <a:p>
            <a:pPr algn="l"/>
            <a:endParaRPr lang="en-IN" sz="2000" dirty="0">
              <a:latin typeface="Times New Roman" panose="02020603050405020304" pitchFamily="18" charset="0"/>
              <a:cs typeface="Times New Roman" panose="02020603050405020304" pitchFamily="18" charset="0"/>
            </a:endParaRP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4525" y="77637"/>
            <a:ext cx="5148082" cy="3950216"/>
          </a:xfrm>
          <a:prstGeom prst="rect">
            <a:avLst/>
          </a:prstGeom>
        </p:spPr>
      </p:pic>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37355" y="112143"/>
            <a:ext cx="5148082" cy="3950216"/>
          </a:xfrm>
          <a:prstGeom prst="rect">
            <a:avLst/>
          </a:prstGeom>
        </p:spPr>
      </p:pic>
    </p:spTree>
    <p:extLst>
      <p:ext uri="{BB962C8B-B14F-4D97-AF65-F5344CB8AC3E}">
        <p14:creationId xmlns:p14="http://schemas.microsoft.com/office/powerpoint/2010/main" val="34914105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1"/>
            <a:ext cx="12192000" cy="6858001"/>
          </a:xfrm>
        </p:spPr>
        <p:txBody>
          <a:bodyPr>
            <a:normAutofit/>
          </a:bodyPr>
          <a:lstStyle/>
          <a:p>
            <a:pPr algn="l"/>
            <a:r>
              <a:rPr lang="en-US" sz="2000" dirty="0" smtClean="0">
                <a:latin typeface="Times New Roman" panose="02020603050405020304" pitchFamily="18" charset="0"/>
                <a:cs typeface="Times New Roman" panose="02020603050405020304" pitchFamily="18" charset="0"/>
              </a:rPr>
              <a:t>Hypothesis Analysis :-</a:t>
            </a:r>
          </a:p>
          <a:p>
            <a:pPr algn="l"/>
            <a:endParaRPr lang="en-US" sz="2000" dirty="0" smtClean="0">
              <a:latin typeface="Times New Roman" panose="02020603050405020304" pitchFamily="18" charset="0"/>
              <a:cs typeface="Times New Roman" panose="02020603050405020304" pitchFamily="18" charset="0"/>
            </a:endParaRPr>
          </a:p>
          <a:p>
            <a:pPr algn="l"/>
            <a:endParaRPr lang="en-US" sz="2000" dirty="0">
              <a:latin typeface="Times New Roman" panose="02020603050405020304" pitchFamily="18" charset="0"/>
              <a:cs typeface="Times New Roman" panose="02020603050405020304" pitchFamily="18" charset="0"/>
            </a:endParaRPr>
          </a:p>
          <a:p>
            <a:pPr algn="l"/>
            <a:endParaRPr lang="en-US" sz="2000" dirty="0" smtClean="0">
              <a:latin typeface="Times New Roman" panose="02020603050405020304" pitchFamily="18" charset="0"/>
              <a:cs typeface="Times New Roman" panose="02020603050405020304" pitchFamily="18" charset="0"/>
            </a:endParaRPr>
          </a:p>
          <a:p>
            <a:pPr algn="l"/>
            <a:endParaRPr lang="en-US" sz="2000" dirty="0">
              <a:latin typeface="Times New Roman" panose="02020603050405020304" pitchFamily="18" charset="0"/>
              <a:cs typeface="Times New Roman" panose="02020603050405020304" pitchFamily="18" charset="0"/>
            </a:endParaRPr>
          </a:p>
          <a:p>
            <a:pPr algn="l"/>
            <a:endParaRPr lang="en-US" sz="2000" dirty="0" smtClean="0">
              <a:latin typeface="Times New Roman" panose="02020603050405020304" pitchFamily="18" charset="0"/>
              <a:cs typeface="Times New Roman" panose="02020603050405020304" pitchFamily="18" charset="0"/>
            </a:endParaRPr>
          </a:p>
          <a:p>
            <a:pPr algn="l"/>
            <a:endParaRPr lang="en-US" sz="2000" dirty="0">
              <a:latin typeface="Times New Roman" panose="02020603050405020304" pitchFamily="18" charset="0"/>
              <a:cs typeface="Times New Roman" panose="02020603050405020304" pitchFamily="18" charset="0"/>
            </a:endParaRPr>
          </a:p>
          <a:p>
            <a:pPr algn="l"/>
            <a:endParaRPr lang="en-US" sz="2000" dirty="0" smtClean="0">
              <a:latin typeface="Times New Roman" panose="02020603050405020304" pitchFamily="18" charset="0"/>
              <a:cs typeface="Times New Roman" panose="02020603050405020304" pitchFamily="18" charset="0"/>
            </a:endParaRPr>
          </a:p>
          <a:p>
            <a:pPr algn="l"/>
            <a:endParaRPr lang="en-US" sz="2000" dirty="0">
              <a:latin typeface="Times New Roman" panose="02020603050405020304" pitchFamily="18" charset="0"/>
              <a:cs typeface="Times New Roman" panose="02020603050405020304" pitchFamily="18" charset="0"/>
            </a:endParaRPr>
          </a:p>
          <a:p>
            <a:pPr algn="l"/>
            <a:endParaRPr lang="en-US" sz="2000" dirty="0" smtClean="0">
              <a:latin typeface="Times New Roman" panose="02020603050405020304" pitchFamily="18" charset="0"/>
              <a:cs typeface="Times New Roman" panose="02020603050405020304" pitchFamily="18" charset="0"/>
            </a:endParaRPr>
          </a:p>
          <a:p>
            <a:pPr algn="l"/>
            <a:endParaRPr lang="en-US" sz="2000" dirty="0">
              <a:latin typeface="Times New Roman" panose="02020603050405020304" pitchFamily="18" charset="0"/>
              <a:cs typeface="Times New Roman" panose="02020603050405020304" pitchFamily="18" charset="0"/>
            </a:endParaRPr>
          </a:p>
          <a:p>
            <a:pPr algn="l"/>
            <a:endParaRPr lang="en-US" sz="2000" dirty="0" smtClean="0">
              <a:latin typeface="Times New Roman" panose="02020603050405020304" pitchFamily="18" charset="0"/>
              <a:cs typeface="Times New Roman" panose="02020603050405020304" pitchFamily="18" charset="0"/>
            </a:endParaRPr>
          </a:p>
          <a:p>
            <a:pPr algn="l"/>
            <a:r>
              <a:rPr lang="en-US" sz="2000" dirty="0" smtClean="0">
                <a:latin typeface="Times New Roman" panose="02020603050405020304" pitchFamily="18" charset="0"/>
                <a:cs typeface="Times New Roman" panose="02020603050405020304" pitchFamily="18" charset="0"/>
              </a:rPr>
              <a:t>From the above plot we can see that there is no linear relation between the variable and to run the logistic </a:t>
            </a:r>
            <a:r>
              <a:rPr lang="en-US" sz="2000" dirty="0" err="1" smtClean="0">
                <a:latin typeface="Times New Roman" panose="02020603050405020304" pitchFamily="18" charset="0"/>
                <a:cs typeface="Times New Roman" panose="02020603050405020304" pitchFamily="18" charset="0"/>
              </a:rPr>
              <a:t>reggretion</a:t>
            </a:r>
            <a:r>
              <a:rPr lang="en-US" sz="2000" dirty="0" smtClean="0">
                <a:latin typeface="Times New Roman" panose="02020603050405020304" pitchFamily="18" charset="0"/>
                <a:cs typeface="Times New Roman" panose="02020603050405020304" pitchFamily="18" charset="0"/>
              </a:rPr>
              <a:t> there are soma assumption which as to be satisfied which are variable should be linear relation , No high co relation among the variable </a:t>
            </a:r>
            <a:r>
              <a:rPr lang="en-US" sz="2000" dirty="0" err="1" smtClean="0">
                <a:latin typeface="Times New Roman" panose="02020603050405020304" pitchFamily="18" charset="0"/>
                <a:cs typeface="Times New Roman" panose="02020603050405020304" pitchFamily="18" charset="0"/>
              </a:rPr>
              <a:t>etc</a:t>
            </a:r>
            <a:r>
              <a:rPr lang="en-US" sz="2000" dirty="0" smtClean="0">
                <a:latin typeface="Times New Roman" panose="02020603050405020304" pitchFamily="18" charset="0"/>
                <a:cs typeface="Times New Roman" panose="02020603050405020304" pitchFamily="18" charset="0"/>
              </a:rPr>
              <a:t> .</a:t>
            </a:r>
          </a:p>
          <a:p>
            <a:pPr algn="l"/>
            <a:r>
              <a:rPr lang="en-US" sz="2000" dirty="0" smtClean="0">
                <a:latin typeface="Times New Roman" panose="02020603050405020304" pitchFamily="18" charset="0"/>
                <a:cs typeface="Times New Roman" panose="02020603050405020304" pitchFamily="18" charset="0"/>
              </a:rPr>
              <a:t>So the data don't follow the above assumption so linear </a:t>
            </a:r>
            <a:r>
              <a:rPr lang="en-US" sz="2000" dirty="0" err="1" smtClean="0">
                <a:latin typeface="Times New Roman" panose="02020603050405020304" pitchFamily="18" charset="0"/>
                <a:cs typeface="Times New Roman" panose="02020603050405020304" pitchFamily="18" charset="0"/>
              </a:rPr>
              <a:t>reggretion</a:t>
            </a:r>
            <a:r>
              <a:rPr lang="en-US" sz="2000" dirty="0" smtClean="0">
                <a:latin typeface="Times New Roman" panose="02020603050405020304" pitchFamily="18" charset="0"/>
                <a:cs typeface="Times New Roman" panose="02020603050405020304" pitchFamily="18" charset="0"/>
              </a:rPr>
              <a:t> cannot be used for the prediction of the cost.</a:t>
            </a:r>
          </a:p>
          <a:p>
            <a:pPr algn="l"/>
            <a:endParaRPr lang="en-IN" sz="2000" dirty="0">
              <a:latin typeface="Times New Roman" panose="02020603050405020304" pitchFamily="18" charset="0"/>
              <a:cs typeface="Times New Roman" panose="02020603050405020304" pitchFamily="18" charset="0"/>
            </a:endParaRPr>
          </a:p>
        </p:txBody>
      </p:sp>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502325" y="457200"/>
            <a:ext cx="3833236" cy="3841027"/>
          </a:xfrm>
          <a:prstGeom prst="rect">
            <a:avLst/>
          </a:prstGeom>
        </p:spPr>
      </p:pic>
    </p:spTree>
    <p:extLst>
      <p:ext uri="{BB962C8B-B14F-4D97-AF65-F5344CB8AC3E}">
        <p14:creationId xmlns:p14="http://schemas.microsoft.com/office/powerpoint/2010/main" val="31833967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1"/>
            <a:ext cx="12192000" cy="6858001"/>
          </a:xfrm>
        </p:spPr>
        <p:txBody>
          <a:bodyPr/>
          <a:lstStyle/>
          <a:p>
            <a:endParaRPr lang="en-US" dirty="0" smtClean="0"/>
          </a:p>
          <a:p>
            <a:endParaRPr lang="en-US" dirty="0" smtClean="0"/>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52115"/>
            <a:ext cx="4270569" cy="3276884"/>
          </a:xfrm>
          <a:prstGeom prst="rect">
            <a:avLst/>
          </a:prstGeom>
        </p:spPr>
      </p:pic>
      <p:sp>
        <p:nvSpPr>
          <p:cNvPr id="5" name="TextBox 4"/>
          <p:cNvSpPr txBox="1"/>
          <p:nvPr/>
        </p:nvSpPr>
        <p:spPr>
          <a:xfrm>
            <a:off x="4647009" y="1406105"/>
            <a:ext cx="7168551" cy="646331"/>
          </a:xfrm>
          <a:prstGeom prst="rect">
            <a:avLst/>
          </a:prstGeom>
          <a:noFill/>
        </p:spPr>
        <p:txBody>
          <a:bodyPr wrap="square" rtlCol="0">
            <a:spAutoFit/>
          </a:bodyPr>
          <a:lstStyle/>
          <a:p>
            <a:r>
              <a:rPr lang="en-US" dirty="0" smtClean="0">
                <a:latin typeface="Times New Roman" panose="02020603050405020304" pitchFamily="18" charset="0"/>
                <a:cs typeface="Times New Roman" panose="02020603050405020304" pitchFamily="18" charset="0"/>
              </a:rPr>
              <a:t>From the plot we can see that there is no relation b/w age ,BMI and gender .</a:t>
            </a:r>
            <a:endParaRPr lang="en-IN" dirty="0" smtClean="0">
              <a:latin typeface="Times New Roman" panose="02020603050405020304" pitchFamily="18" charset="0"/>
              <a:cs typeface="Times New Roman" panose="02020603050405020304" pitchFamily="18" charset="0"/>
            </a:endParaRPr>
          </a:p>
          <a:p>
            <a:endParaRPr lang="en-IN" dirty="0"/>
          </a:p>
        </p:txBody>
      </p:sp>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3581115"/>
            <a:ext cx="6331070" cy="3377857"/>
          </a:xfrm>
          <a:prstGeom prst="rect">
            <a:avLst/>
          </a:prstGeom>
        </p:spPr>
      </p:pic>
      <p:sp>
        <p:nvSpPr>
          <p:cNvPr id="10" name="TextBox 9"/>
          <p:cNvSpPr txBox="1"/>
          <p:nvPr/>
        </p:nvSpPr>
        <p:spPr>
          <a:xfrm>
            <a:off x="5969480" y="4710222"/>
            <a:ext cx="6133380" cy="646331"/>
          </a:xfrm>
          <a:prstGeom prst="rect">
            <a:avLst/>
          </a:prstGeom>
          <a:noFill/>
        </p:spPr>
        <p:txBody>
          <a:bodyPr wrap="square" rtlCol="0">
            <a:spAutoFit/>
          </a:bodyPr>
          <a:lstStyle/>
          <a:p>
            <a:r>
              <a:rPr lang="en-US" dirty="0" smtClean="0"/>
              <a:t>From the plot we can see that there is large number of people with non smoker .</a:t>
            </a:r>
            <a:endParaRPr lang="en-IN" dirty="0"/>
          </a:p>
        </p:txBody>
      </p:sp>
    </p:spTree>
    <p:extLst>
      <p:ext uri="{BB962C8B-B14F-4D97-AF65-F5344CB8AC3E}">
        <p14:creationId xmlns:p14="http://schemas.microsoft.com/office/powerpoint/2010/main" val="17806945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1"/>
            <a:ext cx="12192000" cy="6858001"/>
          </a:xfrm>
        </p:spPr>
        <p:txBody>
          <a:bodyPr/>
          <a:lstStyle/>
          <a:p>
            <a:endParaRPr lang="en-IN" dirty="0"/>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4965202" cy="3776479"/>
          </a:xfrm>
          <a:prstGeom prst="rect">
            <a:avLst/>
          </a:prstGeom>
        </p:spPr>
      </p:pic>
      <p:sp>
        <p:nvSpPr>
          <p:cNvPr id="4" name="TextBox 3"/>
          <p:cNvSpPr txBox="1"/>
          <p:nvPr/>
        </p:nvSpPr>
        <p:spPr>
          <a:xfrm>
            <a:off x="5156789" y="1397480"/>
            <a:ext cx="6843623" cy="646331"/>
          </a:xfrm>
          <a:prstGeom prst="rect">
            <a:avLst/>
          </a:prstGeom>
          <a:noFill/>
        </p:spPr>
        <p:txBody>
          <a:bodyPr wrap="square" rtlCol="0">
            <a:spAutoFit/>
          </a:bodyPr>
          <a:lstStyle/>
          <a:p>
            <a:r>
              <a:rPr lang="en-US" dirty="0" smtClean="0"/>
              <a:t>From the plot we can see that most of the people are form southeast and least are from northwest</a:t>
            </a:r>
            <a:endParaRPr lang="en-IN" dirty="0"/>
          </a:p>
        </p:txBody>
      </p:sp>
      <p:sp>
        <p:nvSpPr>
          <p:cNvPr id="5" name="TextBox 4"/>
          <p:cNvSpPr txBox="1"/>
          <p:nvPr/>
        </p:nvSpPr>
        <p:spPr>
          <a:xfrm>
            <a:off x="0" y="3995678"/>
            <a:ext cx="12192000" cy="2862322"/>
          </a:xfrm>
          <a:prstGeom prst="rect">
            <a:avLst/>
          </a:prstGeom>
          <a:noFill/>
        </p:spPr>
        <p:txBody>
          <a:bodyPr wrap="square" rtlCol="0">
            <a:spAutoFit/>
          </a:bodyPr>
          <a:lstStyle/>
          <a:p>
            <a:r>
              <a:rPr lang="en-US" dirty="0" smtClean="0"/>
              <a:t>From the above analysis we can say that we cannot use the linear regression because they don’t satisfy assumption of the linear regression so for the prediction of the price we going use  other kinds of regression model like SCM, Decision tree , </a:t>
            </a:r>
            <a:r>
              <a:rPr lang="en-US" dirty="0" err="1" smtClean="0"/>
              <a:t>randomforest</a:t>
            </a:r>
            <a:r>
              <a:rPr lang="en-US" dirty="0" smtClean="0"/>
              <a:t> etc. </a:t>
            </a:r>
          </a:p>
          <a:p>
            <a:endParaRPr lang="en-US" dirty="0"/>
          </a:p>
          <a:p>
            <a:r>
              <a:rPr lang="en-US" dirty="0" smtClean="0"/>
              <a:t>For checking the accuracy of the regression model there are some of the method to check which are </a:t>
            </a:r>
          </a:p>
          <a:p>
            <a:r>
              <a:rPr lang="en-US" dirty="0" smtClean="0"/>
              <a:t>1)Mean absolute error(Less the value good the model is)(MAE).</a:t>
            </a:r>
          </a:p>
          <a:p>
            <a:r>
              <a:rPr lang="en-US" dirty="0" smtClean="0"/>
              <a:t>2)Mean square error(</a:t>
            </a:r>
            <a:r>
              <a:rPr lang="en-US" dirty="0" smtClean="0"/>
              <a:t>Less the value good the model is</a:t>
            </a:r>
            <a:r>
              <a:rPr lang="en-US" dirty="0" smtClean="0"/>
              <a:t>)(MSE).</a:t>
            </a:r>
          </a:p>
          <a:p>
            <a:r>
              <a:rPr lang="en-US" dirty="0" smtClean="0"/>
              <a:t>3)R^2 score(Near to 1 good the model is)(R^2).</a:t>
            </a:r>
          </a:p>
          <a:p>
            <a:r>
              <a:rPr lang="en-US" dirty="0" smtClean="0"/>
              <a:t>4)</a:t>
            </a:r>
            <a:r>
              <a:rPr lang="en-US" dirty="0" err="1" smtClean="0"/>
              <a:t>Radjested</a:t>
            </a:r>
            <a:r>
              <a:rPr lang="en-US" dirty="0" smtClean="0"/>
              <a:t> ^2(Near to 1 good the model is)(Radj^2).</a:t>
            </a:r>
          </a:p>
          <a:p>
            <a:r>
              <a:rPr lang="en-US" dirty="0" smtClean="0"/>
              <a:t>5)Root mean square error(</a:t>
            </a:r>
            <a:r>
              <a:rPr lang="en-US" dirty="0" smtClean="0"/>
              <a:t>Less the value good the model is</a:t>
            </a:r>
            <a:r>
              <a:rPr lang="en-US" dirty="0" smtClean="0"/>
              <a:t>)(RMSE).</a:t>
            </a:r>
            <a:endParaRPr lang="en-IN" dirty="0"/>
          </a:p>
        </p:txBody>
      </p:sp>
    </p:spTree>
    <p:extLst>
      <p:ext uri="{BB962C8B-B14F-4D97-AF65-F5344CB8AC3E}">
        <p14:creationId xmlns:p14="http://schemas.microsoft.com/office/powerpoint/2010/main" val="19630847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1"/>
            <a:ext cx="12192000" cy="6858001"/>
          </a:xfrm>
        </p:spPr>
        <p:txBody>
          <a:bodyPr>
            <a:normAutofit/>
          </a:bodyPr>
          <a:lstStyle/>
          <a:p>
            <a:pPr algn="l"/>
            <a:r>
              <a:rPr lang="en-US" sz="2000" dirty="0" smtClean="0">
                <a:latin typeface="Times New Roman" panose="02020603050405020304" pitchFamily="18" charset="0"/>
                <a:cs typeface="Times New Roman" panose="02020603050405020304" pitchFamily="18" charset="0"/>
              </a:rPr>
              <a:t>1)Support vector machine:-</a:t>
            </a:r>
            <a:r>
              <a:rPr lang="en-IN" sz="2000" dirty="0" err="1" smtClean="0">
                <a:latin typeface="Times New Roman" panose="02020603050405020304" pitchFamily="18" charset="0"/>
                <a:cs typeface="Times New Roman" panose="02020603050405020304" pitchFamily="18" charset="0"/>
              </a:rPr>
              <a:t>svm.SVR</a:t>
            </a:r>
            <a:r>
              <a:rPr lang="en-IN" sz="2000" dirty="0" smtClean="0">
                <a:latin typeface="Times New Roman" panose="02020603050405020304" pitchFamily="18" charset="0"/>
                <a:cs typeface="Times New Roman" panose="02020603050405020304" pitchFamily="18" charset="0"/>
              </a:rPr>
              <a:t>(kernel='linear‘ , C=1000 , gamma=1)</a:t>
            </a:r>
          </a:p>
          <a:p>
            <a:pPr algn="l"/>
            <a:r>
              <a:rPr lang="en-US" sz="2000" dirty="0" smtClean="0">
                <a:latin typeface="Times New Roman" panose="02020603050405020304" pitchFamily="18" charset="0"/>
                <a:cs typeface="Times New Roman" panose="02020603050405020304" pitchFamily="18" charset="0"/>
              </a:rPr>
              <a:t>Here Kernel is division model ,</a:t>
            </a:r>
            <a:r>
              <a:rPr lang="en-US" sz="2000" dirty="0">
                <a:latin typeface="Times New Roman" panose="02020603050405020304" pitchFamily="18" charset="0"/>
                <a:cs typeface="Times New Roman" panose="02020603050405020304" pitchFamily="18" charset="0"/>
              </a:rPr>
              <a:t>C</a:t>
            </a:r>
            <a:r>
              <a:rPr lang="en-US" sz="2000" dirty="0" smtClean="0">
                <a:latin typeface="Times New Roman" panose="02020603050405020304" pitchFamily="18" charset="0"/>
                <a:cs typeface="Times New Roman" panose="02020603050405020304" pitchFamily="18" charset="0"/>
              </a:rPr>
              <a:t>=Regularization Parameter</a:t>
            </a:r>
            <a:r>
              <a:rPr lang="en-US" sz="2000" dirty="0" smtClean="0">
                <a:latin typeface="Times New Roman" panose="02020603050405020304" pitchFamily="18" charset="0"/>
                <a:cs typeface="Times New Roman" panose="02020603050405020304" pitchFamily="18" charset="0"/>
              </a:rPr>
              <a:t> ,</a:t>
            </a:r>
            <a:r>
              <a:rPr lang="en-US" sz="2000" dirty="0" smtClean="0">
                <a:latin typeface="Times New Roman" panose="02020603050405020304" pitchFamily="18" charset="0"/>
                <a:cs typeface="Times New Roman" panose="02020603050405020304" pitchFamily="18" charset="0"/>
              </a:rPr>
              <a:t> gamma=Kernel Coefficient</a:t>
            </a:r>
          </a:p>
          <a:p>
            <a:pPr algn="l"/>
            <a:r>
              <a:rPr lang="en-US" sz="2000" dirty="0" smtClean="0">
                <a:latin typeface="Times New Roman" panose="02020603050405020304" pitchFamily="18" charset="0"/>
                <a:cs typeface="Times New Roman" panose="02020603050405020304" pitchFamily="18" charset="0"/>
              </a:rPr>
              <a:t>MAE</a:t>
            </a:r>
            <a:r>
              <a:rPr lang="en-US" sz="2000" dirty="0" smtClean="0">
                <a:latin typeface="Times New Roman" panose="02020603050405020304" pitchFamily="18" charset="0"/>
                <a:cs typeface="Times New Roman" panose="02020603050405020304" pitchFamily="18" charset="0"/>
              </a:rPr>
              <a:t> : 3556.45</a:t>
            </a:r>
          </a:p>
          <a:p>
            <a:pPr algn="l"/>
            <a:r>
              <a:rPr lang="en-US" sz="2000" dirty="0" smtClean="0">
                <a:latin typeface="Times New Roman" panose="02020603050405020304" pitchFamily="18" charset="0"/>
                <a:cs typeface="Times New Roman" panose="02020603050405020304" pitchFamily="18" charset="0"/>
              </a:rPr>
              <a:t>MSE: 46754040.11</a:t>
            </a:r>
          </a:p>
          <a:p>
            <a:pPr algn="l"/>
            <a:r>
              <a:rPr lang="en-US" sz="2000" dirty="0" smtClean="0">
                <a:latin typeface="Times New Roman" panose="02020603050405020304" pitchFamily="18" charset="0"/>
                <a:cs typeface="Times New Roman" panose="02020603050405020304" pitchFamily="18" charset="0"/>
              </a:rPr>
              <a:t>RMSE: 6837.69</a:t>
            </a:r>
          </a:p>
          <a:p>
            <a:pPr algn="l"/>
            <a:r>
              <a:rPr lang="en-US" sz="2000" dirty="0" smtClean="0">
                <a:latin typeface="Times New Roman" panose="02020603050405020304" pitchFamily="18" charset="0"/>
                <a:cs typeface="Times New Roman" panose="02020603050405020304" pitchFamily="18" charset="0"/>
              </a:rPr>
              <a:t>R^2: 0.679</a:t>
            </a:r>
          </a:p>
          <a:p>
            <a:pPr algn="l"/>
            <a:r>
              <a:rPr lang="en-US" sz="2000" dirty="0" smtClean="0">
                <a:latin typeface="Times New Roman" panose="02020603050405020304" pitchFamily="18" charset="0"/>
                <a:cs typeface="Times New Roman" panose="02020603050405020304" pitchFamily="18" charset="0"/>
              </a:rPr>
              <a:t>Radj^2: 0.679</a:t>
            </a:r>
          </a:p>
          <a:p>
            <a:pPr algn="l"/>
            <a:endParaRPr lang="en-US" sz="2000" dirty="0">
              <a:latin typeface="Times New Roman" panose="02020603050405020304" pitchFamily="18" charset="0"/>
              <a:cs typeface="Times New Roman" panose="02020603050405020304" pitchFamily="18" charset="0"/>
            </a:endParaRPr>
          </a:p>
          <a:p>
            <a:pPr algn="l"/>
            <a:r>
              <a:rPr lang="en-US" sz="2000" dirty="0" smtClean="0">
                <a:latin typeface="Times New Roman" panose="02020603050405020304" pitchFamily="18" charset="0"/>
                <a:cs typeface="Times New Roman" panose="02020603050405020304" pitchFamily="18" charset="0"/>
              </a:rPr>
              <a:t>2) Decision Tree </a:t>
            </a:r>
            <a:r>
              <a:rPr lang="en-US" sz="2000" dirty="0" err="1" smtClean="0">
                <a:latin typeface="Times New Roman" panose="02020603050405020304" pitchFamily="18" charset="0"/>
                <a:cs typeface="Times New Roman" panose="02020603050405020304" pitchFamily="18" charset="0"/>
              </a:rPr>
              <a:t>Regressor</a:t>
            </a:r>
            <a:r>
              <a:rPr lang="en-US" sz="2000" dirty="0" smtClean="0">
                <a:latin typeface="Times New Roman" panose="02020603050405020304" pitchFamily="18" charset="0"/>
                <a:cs typeface="Times New Roman" panose="02020603050405020304" pitchFamily="18" charset="0"/>
              </a:rPr>
              <a:t>:- </a:t>
            </a:r>
            <a:r>
              <a:rPr lang="en-US" sz="2000" dirty="0" err="1" smtClean="0">
                <a:latin typeface="Times New Roman" panose="02020603050405020304" pitchFamily="18" charset="0"/>
                <a:cs typeface="Times New Roman" panose="02020603050405020304" pitchFamily="18" charset="0"/>
              </a:rPr>
              <a:t>DecisionTreeRegressor</a:t>
            </a:r>
            <a:r>
              <a:rPr lang="en-US" sz="2000" dirty="0" smtClean="0">
                <a:latin typeface="Times New Roman" panose="02020603050405020304" pitchFamily="18" charset="0"/>
                <a:cs typeface="Times New Roman" panose="02020603050405020304" pitchFamily="18" charset="0"/>
              </a:rPr>
              <a:t>(criterion='absolute_error',</a:t>
            </a:r>
            <a:r>
              <a:rPr lang="en-US" sz="2000" dirty="0" err="1" smtClean="0">
                <a:latin typeface="Times New Roman" panose="02020603050405020304" pitchFamily="18" charset="0"/>
                <a:cs typeface="Times New Roman" panose="02020603050405020304" pitchFamily="18" charset="0"/>
              </a:rPr>
              <a:t>max_depth</a:t>
            </a:r>
            <a:r>
              <a:rPr lang="en-US" sz="2000" dirty="0" smtClean="0">
                <a:latin typeface="Times New Roman" panose="02020603050405020304" pitchFamily="18" charset="0"/>
                <a:cs typeface="Times New Roman" panose="02020603050405020304" pitchFamily="18" charset="0"/>
              </a:rPr>
              <a:t>= 5)</a:t>
            </a:r>
          </a:p>
          <a:p>
            <a:pPr algn="l"/>
            <a:r>
              <a:rPr lang="en-US" sz="2000" dirty="0" smtClean="0">
                <a:latin typeface="Times New Roman" panose="02020603050405020304" pitchFamily="18" charset="0"/>
                <a:cs typeface="Times New Roman" panose="02020603050405020304" pitchFamily="18" charset="0"/>
              </a:rPr>
              <a:t>Where </a:t>
            </a:r>
            <a:r>
              <a:rPr lang="en-US" sz="2000" dirty="0" smtClean="0">
                <a:latin typeface="Times New Roman" panose="02020603050405020304" pitchFamily="18" charset="0"/>
                <a:cs typeface="Times New Roman" panose="02020603050405020304" pitchFamily="18" charset="0"/>
              </a:rPr>
              <a:t>Criterion is method for selecting the variables from data ,</a:t>
            </a:r>
            <a:r>
              <a:rPr lang="en-US" sz="2000" dirty="0" err="1" smtClean="0">
                <a:latin typeface="Times New Roman" panose="02020603050405020304" pitchFamily="18" charset="0"/>
                <a:cs typeface="Times New Roman" panose="02020603050405020304" pitchFamily="18" charset="0"/>
              </a:rPr>
              <a:t>max_depth</a:t>
            </a:r>
            <a:r>
              <a:rPr lang="en-US" sz="2000" dirty="0" smtClean="0">
                <a:latin typeface="Times New Roman" panose="02020603050405020304" pitchFamily="18" charset="0"/>
                <a:cs typeface="Times New Roman" panose="02020603050405020304" pitchFamily="18" charset="0"/>
              </a:rPr>
              <a:t> =number of trees</a:t>
            </a:r>
          </a:p>
          <a:p>
            <a:pPr algn="l"/>
            <a:r>
              <a:rPr lang="en-US" sz="2000" dirty="0" smtClean="0">
                <a:latin typeface="Times New Roman" panose="02020603050405020304" pitchFamily="18" charset="0"/>
                <a:cs typeface="Times New Roman" panose="02020603050405020304" pitchFamily="18" charset="0"/>
              </a:rPr>
              <a:t>MAE : 2616.07</a:t>
            </a:r>
          </a:p>
          <a:p>
            <a:pPr algn="l"/>
            <a:r>
              <a:rPr lang="en-US" sz="2000" dirty="0" smtClean="0">
                <a:latin typeface="Times New Roman" panose="02020603050405020304" pitchFamily="18" charset="0"/>
                <a:cs typeface="Times New Roman" panose="02020603050405020304" pitchFamily="18" charset="0"/>
              </a:rPr>
              <a:t>MSE: 34606112.14</a:t>
            </a:r>
          </a:p>
          <a:p>
            <a:pPr algn="l"/>
            <a:r>
              <a:rPr lang="en-US" sz="2000" dirty="0" smtClean="0">
                <a:latin typeface="Times New Roman" panose="02020603050405020304" pitchFamily="18" charset="0"/>
                <a:cs typeface="Times New Roman" panose="02020603050405020304" pitchFamily="18" charset="0"/>
              </a:rPr>
              <a:t>RMSE: 5882.69</a:t>
            </a:r>
          </a:p>
          <a:p>
            <a:pPr algn="l"/>
            <a:r>
              <a:rPr lang="en-US" sz="2000" dirty="0" smtClean="0">
                <a:latin typeface="Times New Roman" panose="02020603050405020304" pitchFamily="18" charset="0"/>
                <a:cs typeface="Times New Roman" panose="02020603050405020304" pitchFamily="18" charset="0"/>
              </a:rPr>
              <a:t>R^2: 0.762</a:t>
            </a:r>
          </a:p>
          <a:p>
            <a:pPr algn="l"/>
            <a:r>
              <a:rPr lang="en-US" sz="2000" dirty="0" smtClean="0">
                <a:latin typeface="Times New Roman" panose="02020603050405020304" pitchFamily="18" charset="0"/>
                <a:cs typeface="Times New Roman" panose="02020603050405020304" pitchFamily="18" charset="0"/>
              </a:rPr>
              <a:t>Radj^2: 0.671</a:t>
            </a:r>
            <a:endParaRPr lang="en-US" sz="2000"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758469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1"/>
            <a:ext cx="12192000" cy="6858001"/>
          </a:xfrm>
        </p:spPr>
        <p:txBody>
          <a:bodyPr>
            <a:normAutofit/>
          </a:bodyPr>
          <a:lstStyle/>
          <a:p>
            <a:pPr algn="l"/>
            <a:r>
              <a:rPr lang="en-US" sz="2000" dirty="0" smtClean="0">
                <a:latin typeface="Times New Roman" panose="02020603050405020304" pitchFamily="18" charset="0"/>
                <a:cs typeface="Times New Roman" panose="02020603050405020304" pitchFamily="18" charset="0"/>
              </a:rPr>
              <a:t>3)</a:t>
            </a:r>
            <a:r>
              <a:rPr lang="en-US" sz="2000" dirty="0" smtClean="0">
                <a:latin typeface="Times New Roman" panose="02020603050405020304" pitchFamily="18" charset="0"/>
                <a:cs typeface="Times New Roman" panose="02020603050405020304" pitchFamily="18" charset="0"/>
              </a:rPr>
              <a:t> Random Forest </a:t>
            </a:r>
            <a:r>
              <a:rPr lang="en-US" sz="2000" dirty="0" err="1" smtClean="0">
                <a:latin typeface="Times New Roman" panose="02020603050405020304" pitchFamily="18" charset="0"/>
                <a:cs typeface="Times New Roman" panose="02020603050405020304" pitchFamily="18" charset="0"/>
              </a:rPr>
              <a:t>Regressor</a:t>
            </a:r>
            <a:r>
              <a:rPr lang="en-US" sz="2000" dirty="0" smtClean="0">
                <a:latin typeface="Times New Roman" panose="02020603050405020304" pitchFamily="18" charset="0"/>
                <a:cs typeface="Times New Roman" panose="02020603050405020304" pitchFamily="18" charset="0"/>
              </a:rPr>
              <a:t> :- </a:t>
            </a:r>
            <a:r>
              <a:rPr lang="en-US" sz="2000" dirty="0" err="1" smtClean="0">
                <a:latin typeface="Times New Roman" panose="02020603050405020304" pitchFamily="18" charset="0"/>
                <a:cs typeface="Times New Roman" panose="02020603050405020304" pitchFamily="18" charset="0"/>
              </a:rPr>
              <a:t>RandomForestRegressor</a:t>
            </a:r>
            <a:r>
              <a:rPr lang="en-US" sz="2000" dirty="0" smtClean="0">
                <a:latin typeface="Times New Roman" panose="02020603050405020304" pitchFamily="18" charset="0"/>
                <a:cs typeface="Times New Roman" panose="02020603050405020304" pitchFamily="18" charset="0"/>
              </a:rPr>
              <a:t>(criterion='squared_error',</a:t>
            </a:r>
            <a:r>
              <a:rPr lang="en-US" sz="2000" dirty="0" err="1" smtClean="0">
                <a:latin typeface="Times New Roman" panose="02020603050405020304" pitchFamily="18" charset="0"/>
                <a:cs typeface="Times New Roman" panose="02020603050405020304" pitchFamily="18" charset="0"/>
              </a:rPr>
              <a:t>max_depth</a:t>
            </a:r>
            <a:r>
              <a:rPr lang="en-US" sz="2000" dirty="0" smtClean="0">
                <a:latin typeface="Times New Roman" panose="02020603050405020304" pitchFamily="18" charset="0"/>
                <a:cs typeface="Times New Roman" panose="02020603050405020304" pitchFamily="18" charset="0"/>
              </a:rPr>
              <a:t>=4)</a:t>
            </a:r>
          </a:p>
          <a:p>
            <a:pPr algn="l"/>
            <a:r>
              <a:rPr lang="en-US" sz="2000" dirty="0" smtClean="0">
                <a:latin typeface="Times New Roman" panose="02020603050405020304" pitchFamily="18" charset="0"/>
                <a:cs typeface="Times New Roman" panose="02020603050405020304" pitchFamily="18" charset="0"/>
              </a:rPr>
              <a:t>Where criterion is the </a:t>
            </a:r>
            <a:r>
              <a:rPr lang="en-US" sz="2000" dirty="0" err="1" smtClean="0">
                <a:latin typeface="Times New Roman" panose="02020603050405020304" pitchFamily="18" charset="0"/>
                <a:cs typeface="Times New Roman" panose="02020603050405020304" pitchFamily="18" charset="0"/>
              </a:rPr>
              <a:t>precition</a:t>
            </a:r>
            <a:r>
              <a:rPr lang="en-US" sz="2000" dirty="0" smtClean="0">
                <a:latin typeface="Times New Roman" panose="02020603050405020304" pitchFamily="18" charset="0"/>
                <a:cs typeface="Times New Roman" panose="02020603050405020304" pitchFamily="18" charset="0"/>
              </a:rPr>
              <a:t> of the </a:t>
            </a:r>
            <a:r>
              <a:rPr lang="en-US" sz="2000" dirty="0" err="1" smtClean="0">
                <a:latin typeface="Times New Roman" panose="02020603050405020304" pitchFamily="18" charset="0"/>
                <a:cs typeface="Times New Roman" panose="02020603050405020304" pitchFamily="18" charset="0"/>
              </a:rPr>
              <a:t>feture</a:t>
            </a:r>
            <a:r>
              <a:rPr lang="en-US" sz="2000" dirty="0" smtClean="0">
                <a:latin typeface="Times New Roman" panose="02020603050405020304" pitchFamily="18" charset="0"/>
                <a:cs typeface="Times New Roman" panose="02020603050405020304" pitchFamily="18" charset="0"/>
              </a:rPr>
              <a:t> ,</a:t>
            </a:r>
            <a:r>
              <a:rPr lang="en-US" sz="2000" dirty="0" err="1" smtClean="0">
                <a:latin typeface="Times New Roman" panose="02020603050405020304" pitchFamily="18" charset="0"/>
                <a:cs typeface="Times New Roman" panose="02020603050405020304" pitchFamily="18" charset="0"/>
              </a:rPr>
              <a:t>max_depth</a:t>
            </a:r>
            <a:r>
              <a:rPr lang="en-US" sz="2000" dirty="0" smtClean="0">
                <a:latin typeface="Times New Roman" panose="02020603050405020304" pitchFamily="18" charset="0"/>
                <a:cs typeface="Times New Roman" panose="02020603050405020304" pitchFamily="18" charset="0"/>
              </a:rPr>
              <a:t>= model fitting.</a:t>
            </a:r>
          </a:p>
          <a:p>
            <a:pPr algn="l"/>
            <a:r>
              <a:rPr lang="en-US" sz="2000" dirty="0" smtClean="0">
                <a:latin typeface="Times New Roman" panose="02020603050405020304" pitchFamily="18" charset="0"/>
                <a:cs typeface="Times New Roman" panose="02020603050405020304" pitchFamily="18" charset="0"/>
              </a:rPr>
              <a:t>MAE : 2777.98</a:t>
            </a:r>
          </a:p>
          <a:p>
            <a:pPr algn="l"/>
            <a:r>
              <a:rPr lang="en-US" sz="2000" dirty="0" smtClean="0">
                <a:latin typeface="Times New Roman" panose="02020603050405020304" pitchFamily="18" charset="0"/>
                <a:cs typeface="Times New Roman" panose="02020603050405020304" pitchFamily="18" charset="0"/>
              </a:rPr>
              <a:t>MSE: 26075344.34</a:t>
            </a:r>
          </a:p>
          <a:p>
            <a:pPr algn="l"/>
            <a:r>
              <a:rPr lang="en-US" sz="2000" dirty="0" smtClean="0">
                <a:latin typeface="Times New Roman" panose="02020603050405020304" pitchFamily="18" charset="0"/>
                <a:cs typeface="Times New Roman" panose="02020603050405020304" pitchFamily="18" charset="0"/>
              </a:rPr>
              <a:t>RMSE: 5106.40</a:t>
            </a:r>
          </a:p>
          <a:p>
            <a:pPr algn="l"/>
            <a:r>
              <a:rPr lang="en-US" sz="2000" dirty="0" smtClean="0">
                <a:latin typeface="Times New Roman" panose="02020603050405020304" pitchFamily="18" charset="0"/>
                <a:cs typeface="Times New Roman" panose="02020603050405020304" pitchFamily="18" charset="0"/>
              </a:rPr>
              <a:t>R^2: 0.821</a:t>
            </a:r>
          </a:p>
          <a:p>
            <a:pPr algn="l"/>
            <a:r>
              <a:rPr lang="en-US" sz="2000" dirty="0" smtClean="0">
                <a:latin typeface="Times New Roman" panose="02020603050405020304" pitchFamily="18" charset="0"/>
                <a:cs typeface="Times New Roman" panose="02020603050405020304" pitchFamily="18" charset="0"/>
              </a:rPr>
              <a:t>Radj^2: 0.820</a:t>
            </a:r>
          </a:p>
          <a:p>
            <a:pPr algn="l"/>
            <a:endParaRPr lang="en-US" sz="2000" dirty="0">
              <a:latin typeface="Times New Roman" panose="02020603050405020304" pitchFamily="18" charset="0"/>
              <a:cs typeface="Times New Roman" panose="02020603050405020304" pitchFamily="18" charset="0"/>
            </a:endParaRPr>
          </a:p>
          <a:p>
            <a:pPr algn="l"/>
            <a:r>
              <a:rPr lang="en-US" sz="2000" dirty="0" smtClean="0">
                <a:latin typeface="Times New Roman" panose="02020603050405020304" pitchFamily="18" charset="0"/>
                <a:cs typeface="Times New Roman" panose="02020603050405020304" pitchFamily="18" charset="0"/>
              </a:rPr>
              <a:t>4) </a:t>
            </a:r>
            <a:r>
              <a:rPr lang="en-US" sz="2000" dirty="0" err="1" smtClean="0">
                <a:latin typeface="Times New Roman" panose="02020603050405020304" pitchFamily="18" charset="0"/>
                <a:cs typeface="Times New Roman" panose="02020603050405020304" pitchFamily="18" charset="0"/>
              </a:rPr>
              <a:t>XGBoost</a:t>
            </a:r>
            <a:r>
              <a:rPr lang="en-US" sz="2000" dirty="0" smtClean="0">
                <a:latin typeface="Times New Roman" panose="02020603050405020304" pitchFamily="18" charset="0"/>
                <a:cs typeface="Times New Roman" panose="02020603050405020304" pitchFamily="18" charset="0"/>
              </a:rPr>
              <a:t> :- </a:t>
            </a:r>
            <a:r>
              <a:rPr lang="en-US" sz="2000" dirty="0" err="1" smtClean="0">
                <a:latin typeface="Times New Roman" panose="02020603050405020304" pitchFamily="18" charset="0"/>
                <a:cs typeface="Times New Roman" panose="02020603050405020304" pitchFamily="18" charset="0"/>
              </a:rPr>
              <a:t>xgb.XGBRegressor</a:t>
            </a:r>
            <a:r>
              <a:rPr lang="en-US" sz="2000" dirty="0" smtClean="0">
                <a:latin typeface="Times New Roman" panose="02020603050405020304" pitchFamily="18" charset="0"/>
                <a:cs typeface="Times New Roman" panose="02020603050405020304" pitchFamily="18" charset="0"/>
              </a:rPr>
              <a:t>(</a:t>
            </a:r>
            <a:r>
              <a:rPr lang="en-US" sz="2000" dirty="0" err="1" smtClean="0">
                <a:latin typeface="Times New Roman" panose="02020603050405020304" pitchFamily="18" charset="0"/>
                <a:cs typeface="Times New Roman" panose="02020603050405020304" pitchFamily="18" charset="0"/>
              </a:rPr>
              <a:t>max_depth</a:t>
            </a:r>
            <a:r>
              <a:rPr lang="en-US" sz="2000" dirty="0" smtClean="0">
                <a:latin typeface="Times New Roman" panose="02020603050405020304" pitchFamily="18" charset="0"/>
                <a:cs typeface="Times New Roman" panose="02020603050405020304" pitchFamily="18" charset="0"/>
              </a:rPr>
              <a:t>=3,n_estimators=10)</a:t>
            </a:r>
          </a:p>
          <a:p>
            <a:pPr algn="l"/>
            <a:r>
              <a:rPr lang="en-US" sz="2000" dirty="0" smtClean="0">
                <a:latin typeface="Times New Roman" panose="02020603050405020304" pitchFamily="18" charset="0"/>
                <a:cs typeface="Times New Roman" panose="02020603050405020304" pitchFamily="18" charset="0"/>
              </a:rPr>
              <a:t>Where </a:t>
            </a:r>
            <a:r>
              <a:rPr lang="en-US" sz="2000" dirty="0" smtClean="0">
                <a:latin typeface="Times New Roman" panose="02020603050405020304" pitchFamily="18" charset="0"/>
                <a:cs typeface="Times New Roman" panose="02020603050405020304" pitchFamily="18" charset="0"/>
              </a:rPr>
              <a:t>Here </a:t>
            </a:r>
            <a:r>
              <a:rPr lang="en-US" sz="2000" dirty="0" err="1" smtClean="0">
                <a:latin typeface="Times New Roman" panose="02020603050405020304" pitchFamily="18" charset="0"/>
                <a:cs typeface="Times New Roman" panose="02020603050405020304" pitchFamily="18" charset="0"/>
              </a:rPr>
              <a:t>max_depth</a:t>
            </a:r>
            <a:r>
              <a:rPr lang="en-US" sz="2000" dirty="0" smtClean="0">
                <a:latin typeface="Times New Roman" panose="02020603050405020304" pitchFamily="18" charset="0"/>
                <a:cs typeface="Times New Roman" panose="02020603050405020304" pitchFamily="18" charset="0"/>
              </a:rPr>
              <a:t> is fitting the model  and estimators is number of trees.</a:t>
            </a:r>
          </a:p>
          <a:p>
            <a:pPr algn="l"/>
            <a:r>
              <a:rPr lang="en-US" sz="2000" dirty="0" smtClean="0">
                <a:latin typeface="Times New Roman" panose="02020603050405020304" pitchFamily="18" charset="0"/>
                <a:cs typeface="Times New Roman" panose="02020603050405020304" pitchFamily="18" charset="0"/>
              </a:rPr>
              <a:t>MAE : 2591.77</a:t>
            </a:r>
          </a:p>
          <a:p>
            <a:pPr algn="l"/>
            <a:r>
              <a:rPr lang="en-US" sz="2000" dirty="0" smtClean="0">
                <a:latin typeface="Times New Roman" panose="02020603050405020304" pitchFamily="18" charset="0"/>
                <a:cs typeface="Times New Roman" panose="02020603050405020304" pitchFamily="18" charset="0"/>
              </a:rPr>
              <a:t>MSE: 25306711.64</a:t>
            </a:r>
          </a:p>
          <a:p>
            <a:pPr algn="l"/>
            <a:r>
              <a:rPr lang="en-US" sz="2000" dirty="0" smtClean="0">
                <a:latin typeface="Times New Roman" panose="02020603050405020304" pitchFamily="18" charset="0"/>
                <a:cs typeface="Times New Roman" panose="02020603050405020304" pitchFamily="18" charset="0"/>
              </a:rPr>
              <a:t>RMSE: 5030.577</a:t>
            </a:r>
          </a:p>
          <a:p>
            <a:pPr algn="l"/>
            <a:r>
              <a:rPr lang="en-US" sz="2000" dirty="0" smtClean="0">
                <a:latin typeface="Times New Roman" panose="02020603050405020304" pitchFamily="18" charset="0"/>
                <a:cs typeface="Times New Roman" panose="02020603050405020304" pitchFamily="18" charset="0"/>
              </a:rPr>
              <a:t>R^2: 0.826</a:t>
            </a:r>
          </a:p>
          <a:p>
            <a:pPr algn="l"/>
            <a:r>
              <a:rPr lang="en-US" sz="2000" dirty="0" smtClean="0">
                <a:latin typeface="Times New Roman" panose="02020603050405020304" pitchFamily="18" charset="0"/>
                <a:cs typeface="Times New Roman" panose="02020603050405020304" pitchFamily="18" charset="0"/>
              </a:rPr>
              <a:t>Radj^2: 0.825</a:t>
            </a:r>
          </a:p>
          <a:p>
            <a:pPr algn="l"/>
            <a:endParaRPr lang="en-US" sz="2000" dirty="0" smtClean="0">
              <a:latin typeface="Times New Roman" panose="02020603050405020304" pitchFamily="18" charset="0"/>
              <a:cs typeface="Times New Roman" panose="02020603050405020304" pitchFamily="18" charset="0"/>
            </a:endParaRPr>
          </a:p>
          <a:p>
            <a:pPr algn="l"/>
            <a:endParaRPr lang="en-US" sz="2000" dirty="0" smtClean="0">
              <a:latin typeface="Times New Roman" panose="02020603050405020304" pitchFamily="18" charset="0"/>
              <a:cs typeface="Times New Roman" panose="02020603050405020304" pitchFamily="18" charset="0"/>
            </a:endParaRPr>
          </a:p>
          <a:p>
            <a:pPr algn="l"/>
            <a:endParaRPr lang="en-US" sz="2000" dirty="0" smtClean="0">
              <a:latin typeface="Times New Roman" panose="02020603050405020304" pitchFamily="18" charset="0"/>
              <a:cs typeface="Times New Roman" panose="02020603050405020304" pitchFamily="18" charset="0"/>
            </a:endParaRPr>
          </a:p>
          <a:p>
            <a:pPr algn="l"/>
            <a:endParaRPr lang="en-US" sz="2000" dirty="0" smtClean="0">
              <a:latin typeface="Times New Roman" panose="02020603050405020304" pitchFamily="18" charset="0"/>
              <a:cs typeface="Times New Roman" panose="02020603050405020304" pitchFamily="18" charset="0"/>
            </a:endParaRPr>
          </a:p>
          <a:p>
            <a:pPr algn="l"/>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864658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1"/>
            <a:ext cx="12192000" cy="6858001"/>
          </a:xfrm>
        </p:spPr>
        <p:txBody>
          <a:bodyPr/>
          <a:lstStyle/>
          <a:p>
            <a:pPr algn="l"/>
            <a:endParaRPr lang="en-US" dirty="0" smtClean="0"/>
          </a:p>
          <a:p>
            <a:pPr algn="l"/>
            <a:endParaRPr lang="en-US" dirty="0"/>
          </a:p>
          <a:p>
            <a:pPr algn="l"/>
            <a:endParaRPr lang="en-US" dirty="0" smtClean="0"/>
          </a:p>
          <a:p>
            <a:pPr algn="l"/>
            <a:endParaRPr lang="en-US" dirty="0"/>
          </a:p>
          <a:p>
            <a:pPr algn="l"/>
            <a:endParaRPr lang="en-US" dirty="0" smtClean="0"/>
          </a:p>
          <a:p>
            <a:pPr algn="l"/>
            <a:endParaRPr lang="en-US" dirty="0"/>
          </a:p>
          <a:p>
            <a:pPr algn="l"/>
            <a:endParaRPr lang="en-US" dirty="0" smtClean="0"/>
          </a:p>
          <a:p>
            <a:pPr algn="l"/>
            <a:r>
              <a:rPr lang="en-US" dirty="0" smtClean="0"/>
              <a:t>Conclusion:-</a:t>
            </a:r>
          </a:p>
          <a:p>
            <a:pPr algn="l"/>
            <a:r>
              <a:rPr lang="en-US" sz="2000" dirty="0">
                <a:latin typeface="Times New Roman" panose="02020603050405020304" pitchFamily="18" charset="0"/>
                <a:cs typeface="Times New Roman" panose="02020603050405020304" pitchFamily="18" charset="0"/>
              </a:rPr>
              <a:t>From the above result we can see that XGBOOST gives us the minimum RMSE and MAE</a:t>
            </a:r>
            <a:r>
              <a:rPr lang="en-US" sz="2000" dirty="0" smtClean="0">
                <a:latin typeface="Times New Roman" panose="02020603050405020304" pitchFamily="18" charset="0"/>
                <a:cs typeface="Times New Roman" panose="02020603050405020304" pitchFamily="18" charset="0"/>
              </a:rPr>
              <a:t>, maximum </a:t>
            </a:r>
            <a:r>
              <a:rPr lang="en-US" sz="2000" dirty="0">
                <a:latin typeface="Times New Roman" panose="02020603050405020304" pitchFamily="18" charset="0"/>
                <a:cs typeface="Times New Roman" panose="02020603050405020304" pitchFamily="18" charset="0"/>
              </a:rPr>
              <a:t>r2 and r2 </a:t>
            </a:r>
            <a:r>
              <a:rPr lang="en-US" sz="2000" dirty="0" smtClean="0">
                <a:latin typeface="Times New Roman" panose="02020603050405020304" pitchFamily="18" charset="0"/>
                <a:cs typeface="Times New Roman" panose="02020603050405020304" pitchFamily="18" charset="0"/>
              </a:rPr>
              <a:t>adjusted </a:t>
            </a:r>
            <a:r>
              <a:rPr lang="en-US" sz="2000" dirty="0">
                <a:latin typeface="Times New Roman" panose="02020603050405020304" pitchFamily="18" charset="0"/>
                <a:cs typeface="Times New Roman" panose="02020603050405020304" pitchFamily="18" charset="0"/>
              </a:rPr>
              <a:t>so XGBOOST has the best </a:t>
            </a:r>
            <a:r>
              <a:rPr lang="en-US" sz="2000" dirty="0" smtClean="0">
                <a:latin typeface="Times New Roman" panose="02020603050405020304" pitchFamily="18" charset="0"/>
                <a:cs typeface="Times New Roman" panose="02020603050405020304" pitchFamily="18" charset="0"/>
              </a:rPr>
              <a:t>prediction in that particular parameter given .</a:t>
            </a:r>
            <a:endParaRPr lang="en-US" sz="2000" dirty="0">
              <a:latin typeface="Times New Roman" panose="02020603050405020304" pitchFamily="18" charset="0"/>
              <a:cs typeface="Times New Roman" panose="02020603050405020304" pitchFamily="18" charset="0"/>
            </a:endParaRPr>
          </a:p>
          <a:p>
            <a:pPr algn="l"/>
            <a:endParaRPr lang="en-IN" dirty="0"/>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56496" y="0"/>
            <a:ext cx="7679008" cy="3032760"/>
          </a:xfrm>
          <a:prstGeom prst="rect">
            <a:avLst/>
          </a:prstGeom>
        </p:spPr>
      </p:pic>
    </p:spTree>
    <p:extLst>
      <p:ext uri="{BB962C8B-B14F-4D97-AF65-F5344CB8AC3E}">
        <p14:creationId xmlns:p14="http://schemas.microsoft.com/office/powerpoint/2010/main" val="201076968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555</TotalTime>
  <Words>904</Words>
  <Application>Microsoft Office PowerPoint</Application>
  <PresentationFormat>Widescreen</PresentationFormat>
  <Paragraphs>104</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Calibri</vt:lpstr>
      <vt:lpstr>Calibri Light</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account</dc:creator>
  <cp:lastModifiedBy>Microsoft account</cp:lastModifiedBy>
  <cp:revision>25</cp:revision>
  <dcterms:created xsi:type="dcterms:W3CDTF">2023-01-19T06:04:33Z</dcterms:created>
  <dcterms:modified xsi:type="dcterms:W3CDTF">2023-01-19T15:19:59Z</dcterms:modified>
</cp:coreProperties>
</file>